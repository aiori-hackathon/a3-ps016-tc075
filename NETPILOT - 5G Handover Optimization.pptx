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  <ns0:embeddedFont>
      <ns0:font typeface="Space Grotesk"/>
      <ns0:bold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ae06e9a0-1e7e-4b4c-9484-77acb51b045c.fntdata" /><ns0:Relationship Id="rIdFont18" Type="http://schemas.openxmlformats.org/officeDocument/2006/relationships/font" Target="fonts/4c532b71-d928-4b6a-afcd-e9bd9aa482c2.fntdata" /><ns0:Relationship Id="rIdFont19" Type="http://schemas.openxmlformats.org/officeDocument/2006/relationships/font" Target="fonts/acde6aea-95fc-48f5-b269-819e07b6b95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581501"/>
            <a:ext cx="10820400" cy="781050"/>
          </a:xfrm>
          <a:prstGeom prst="roundRect">
            <a:avLst>
              <a:gd name="adj" fmla="val 14634"/>
            </a:avLst>
          </a:prstGeom>
          <a:solidFill>
            <a:srgbClr val="13171F"/>
          </a:solidFill>
          <a:ln w="9525">
            <a:solidFill>
              <a:srgbClr val="1F2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72625" y="495300"/>
            <a:ext cx="1933575" cy="304800"/>
          </a:xfrm>
          <a:prstGeom prst="roundRect">
            <a:avLst>
              <a:gd name="adj" fmla="val 18750"/>
            </a:avLst>
          </a:prstGeom>
          <a:solidFill>
            <a:srgbClr val="0F2231"/>
          </a:solidFill>
          <a:ln w="9525">
            <a:solidFill>
              <a:srgbClr val="174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3995588"/>
            <a:ext cx="6858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91098" y="5781526"/>
            <a:ext cx="9525" cy="381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77658" y="5781526"/>
            <a:ext cx="9525" cy="381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347912"/>
            <a:ext cx="1857375" cy="219075"/>
          </a:xfrm>
          <a:prstGeom prst="roundRect">
            <a:avLst>
              <a:gd name="adj" fmla="val 1739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2925"/>
            <a:ext cx="23812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2719387"/>
            <a:ext cx="11506200" cy="639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NETPILOT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11748"/>
            <a:ext cx="10477500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38BDF8"/>
                </a:solidFill>
                <a:latin typeface="Plus Jakarta Sans"/>
              </a:rPr>
              <a:t>Predictive Supervised Handover Optimization for High-Speed Highway Corridors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557212"/>
            <a:ext cx="21074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Space Grotesk"/>
              </a:rPr>
              <a:t>AIORI-3 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8450" y="547687"/>
            <a:ext cx="371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8475" y="566737"/>
            <a:ext cx="32027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4A3B8"/>
                </a:solidFill>
                <a:latin typeface="Space Grotesk"/>
              </a:rPr>
              <a:t>5G VEHICULAR MOBILITY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4550" y="561975"/>
            <a:ext cx="2012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PS-016 | A3-PS016-TC075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2386012"/>
            <a:ext cx="17621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8FAFC"/>
                </a:solidFill>
                <a:latin typeface="Plus Jakarta Sans"/>
              </a:rPr>
              <a:t>PROBLEM STATEMENT 016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8425" y="2371725"/>
            <a:ext cx="5643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Simulation-Based Handover Decision Evaluation for High-Mobility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5791051"/>
            <a:ext cx="320296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5972026"/>
            <a:ext cx="320296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Space Grotesk"/>
              </a:rPr>
              <a:t>PS-016 (High-Mobility)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7323" y="5781526"/>
            <a:ext cx="48045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TEAM 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7323" y="5962501"/>
            <a:ext cx="48045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Mahak Chaudhary  •  Brij Bhushan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3883" y="5781526"/>
            <a:ext cx="346992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PROJECT MENTOR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3883" y="5962501"/>
            <a:ext cx="346992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Mohd Imran Hashmi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029325"/>
            <a:ext cx="108204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453580"/>
            <a:ext cx="3255168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07668" y="2453580"/>
            <a:ext cx="3255168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29537" y="2452687"/>
            <a:ext cx="3776662" cy="2259062"/>
          </a:xfrm>
          <a:prstGeom prst="roundRect">
            <a:avLst>
              <a:gd name="adj" fmla="val 505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029325"/>
            <a:ext cx="108204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767905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893" y="2767905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2882205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8193" y="2882205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953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2390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3GPP Event A3 Mobility Dilemma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91250"/>
            <a:ext cx="3893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Standard: 3GPP TS 38.331 Handover 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3100" y="6191250"/>
            <a:ext cx="2428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NETPILOT Motivation &amp;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3377505"/>
            <a:ext cx="354731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Signal Thrashing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710880"/>
            <a:ext cx="27979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Rapid RSRP oscillations near cell borders caused by fast fading and multipath shadowing.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3893" y="3377505"/>
            <a:ext cx="354731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Ping-Pong Vulnerability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3893" y="3710880"/>
            <a:ext cx="27979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Vehicles oscillate between towers, incurring repeated control signaling and packet loss.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6237" y="2757487"/>
            <a:ext cx="405407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BASELINE A3 LATENCY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6237" y="3005137"/>
            <a:ext cx="4054078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00"/>
              </a:lnSpc>
            </a:pPr>
            <a:r>
              <a:rPr b="1" sz="5100" i="0" u="none">
                <a:solidFill>
                  <a:srgbClr val="F8FAFC"/>
                </a:solidFill>
                <a:latin typeface="Space Grotesk"/>
              </a:rPr>
              <a:t>260 </a:t>
            </a:r>
            <a:r>
              <a:rPr b="1" sz="2400" i="0" u="none">
                <a:solidFill>
                  <a:srgbClr val="94A3B8"/>
                </a:solidFill>
                <a:latin typeface="Space Grotesk"/>
              </a:rPr>
              <a:t>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6237" y="3767137"/>
            <a:ext cx="3338512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Cumulative interruption duration observed at 50 km/h due to unnecessary ping-pong cycles.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24550"/>
            <a:ext cx="10820400" cy="438150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539305"/>
            <a:ext cx="31940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08450" y="2539305"/>
            <a:ext cx="31940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31100" y="2548830"/>
            <a:ext cx="3174950" cy="1962150"/>
          </a:xfrm>
          <a:prstGeom prst="roundRect">
            <a:avLst>
              <a:gd name="adj" fmla="val 582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6057900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400" y="3434655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050" y="343465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853630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6575" y="2853630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9700" y="2853630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225" y="2967930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0875" y="2967930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4000" y="2967930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4953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SYSTEM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72390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Supervised Intelligence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6057900"/>
            <a:ext cx="7203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Pipeline Goal: Deterministic handover triggers eliminating all backward ping-pong switches.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463230"/>
            <a:ext cx="356704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Channel Profiling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3777555"/>
            <a:ext cx="2813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Instantaneous and differential RSRP tracking with fading suppression.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6575" y="3463230"/>
            <a:ext cx="356704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Velocity Awareness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6575" y="3777555"/>
            <a:ext cx="2813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Real-time speed telemetry and vehicle dwell time estimation.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9700" y="3463230"/>
            <a:ext cx="356704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Directional 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9700" y="3777555"/>
            <a:ext cx="2813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Strict forward target cell enforcement along highway route tracks.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1175" y="2953642"/>
            <a:ext cx="476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5250" y="2953642"/>
            <a:ext cx="5048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58376" y="2953642"/>
            <a:ext cx="5048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Space Grotesk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067425"/>
            <a:ext cx="108204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067425"/>
            <a:ext cx="108204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172592"/>
            <a:ext cx="10820400" cy="28575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172592"/>
          <a:ext cx="10820398" cy="28575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74168"/>
                <a:gridCol w="3242964"/>
                <a:gridCol w="4703266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Configuration 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Standard Context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Carrier Frequency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3.5 GHz (n78 Band)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Sub-6 Mid-Band 5G Deployment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System Bandwidth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20 MHz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Peak theoretical channel capacity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Corridor Geometry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3 Cells, 1600m Track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ISD = 800m linear gNodeB spacing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Vehicle Velocity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50 km/h and 130 km/h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Urban arterial vs Expressway profiles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Execution Penalty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50 ms interruption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Standard 3GPP control plane latency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953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SIMULATION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2390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3GPP TR 38.901 Environment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10300"/>
            <a:ext cx="3476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Standard: 3GPP Technical Report 38.901 V16.1.0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7775" y="6210300"/>
            <a:ext cx="3298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Highway Macro (UMa-H) Propagation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62650"/>
            <a:ext cx="10820400" cy="400050"/>
          </a:xfrm>
          <a:prstGeom prst="roundRect">
            <a:avLst>
              <a:gd name="adj" fmla="val 1904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358330"/>
            <a:ext cx="10820400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3463230"/>
            <a:ext cx="3479750" cy="1276350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56050" y="3463230"/>
            <a:ext cx="3479750" cy="1276350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26300" y="3463230"/>
            <a:ext cx="3479750" cy="1276350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2863155"/>
            <a:ext cx="2445990" cy="95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46115" y="2863155"/>
            <a:ext cx="4688085" cy="952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4201" y="2863155"/>
            <a:ext cx="3057525" cy="952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463230"/>
            <a:ext cx="38100" cy="12763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6050" y="3463230"/>
            <a:ext cx="38100" cy="12763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26300" y="3463230"/>
            <a:ext cx="38100" cy="12763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863155"/>
            <a:ext cx="10191750" cy="95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4953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TRAJECTORY VISUALIZER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2390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Corridor Boundary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6076950"/>
            <a:ext cx="11315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Plus Jakarta Sans"/>
              </a:rPr>
              <a:t>Key Finding: Exactly two scheduled handovers executed over the entire 1600m track without redundant switches.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2596455"/>
            <a:ext cx="10191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ORIGIN: 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8350" y="2596455"/>
            <a:ext cx="1619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HANDOVER 1: ~380M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8550" y="2596455"/>
            <a:ext cx="1678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HANDOVER 2: ~1120M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96376" y="2596455"/>
            <a:ext cx="11811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FINISH: 1600M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50" y="3672780"/>
            <a:ext cx="3778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0m – 360m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450" y="3901380"/>
            <a:ext cx="396709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Serving Cell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450" y="4177605"/>
            <a:ext cx="3778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Stable link maintained from origin base station.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3700" y="3672780"/>
            <a:ext cx="3778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Space Grotesk"/>
              </a:rPr>
              <a:t>Trigger @ ~380m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3700" y="3901380"/>
            <a:ext cx="396709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ML: C0 → C1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3700" y="4187130"/>
            <a:ext cx="311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Preemptive switch prior to severe midpoint fading.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3950" y="3672780"/>
            <a:ext cx="3778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Space Grotesk"/>
              </a:rPr>
              <a:t>Trigger @ ~1120m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3950" y="3901380"/>
            <a:ext cx="391804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ML: C1 → C2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3950" y="4187130"/>
            <a:ext cx="311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Directional execution eliminating baseline thrashing.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029325"/>
            <a:ext cx="108204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544067"/>
            <a:ext cx="3429000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1500" y="2544067"/>
            <a:ext cx="3429000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544067"/>
            <a:ext cx="3429000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029325"/>
            <a:ext cx="108204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953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CORE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2390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Zero Ping-Pong Elimination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91250"/>
            <a:ext cx="4774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Evaluation Metric: Handover Oscillation Rate under fast fading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15425" y="6191250"/>
            <a:ext cx="2988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Optimal Theoretical Bound Achieved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456" y="2896492"/>
            <a:ext cx="3595687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284C7"/>
                </a:solidFill>
                <a:latin typeface="Space Grotesk"/>
              </a:rPr>
              <a:t>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564" y="379184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Ping-Pong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456" y="4087117"/>
            <a:ext cx="3595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Down from 2.0 in standard 3GPP baseline.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8156" y="2896492"/>
            <a:ext cx="3595687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59669"/>
                </a:solidFill>
                <a:latin typeface="Space Grotesk"/>
              </a:rPr>
              <a:t>0.0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8264" y="379184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Link Failures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8156" y="4087117"/>
            <a:ext cx="3595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100% carrier link stability maintained.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3856" y="2896492"/>
            <a:ext cx="3595687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Space Grotes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3964" y="379184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Total Handovers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3856" y="4087117"/>
            <a:ext cx="3595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Strict linear progression across 3 cells.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62650"/>
            <a:ext cx="10820400" cy="400050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986980"/>
            <a:ext cx="527685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29350" y="2986980"/>
            <a:ext cx="527685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0125" y="3853755"/>
            <a:ext cx="46482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43675" y="3853755"/>
            <a:ext cx="46482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3853755"/>
            <a:ext cx="4485382" cy="95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43675" y="3853755"/>
            <a:ext cx="4536578" cy="952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953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CAPACITY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2390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Throughput Parity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01205"/>
            <a:ext cx="10715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NETPILOT eliminates ping-pong oscillations while sustaining peak theoretical channel capacity.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6076950"/>
            <a:ext cx="11315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Takeaway: High throughput maintained without experiencing handover-induced data starvation.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4101405"/>
            <a:ext cx="5810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NETPILOT: </a:t>
            </a:r>
            <a:r>
              <a:rPr b="1" sz="1125" i="0" u="none">
                <a:solidFill>
                  <a:srgbClr val="64748B"/>
                </a:solidFill>
                <a:latin typeface="Plus Jakarta Sans"/>
              </a:rPr>
              <a:t>109.04 Mbps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 vs Baseline: </a:t>
            </a:r>
            <a:r>
              <a:rPr b="1" sz="1125" i="0" u="none">
                <a:solidFill>
                  <a:srgbClr val="64748B"/>
                </a:solidFill>
                <a:latin typeface="Plus Jakarta Sans"/>
              </a:rPr>
              <a:t>113.05 Mbps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4101405"/>
            <a:ext cx="56483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NETPILOT: </a:t>
            </a:r>
            <a:r>
              <a:rPr b="1" sz="1125" i="0" u="none">
                <a:solidFill>
                  <a:srgbClr val="64748B"/>
                </a:solidFill>
                <a:latin typeface="Plus Jakarta Sans"/>
              </a:rPr>
              <a:t>110.30 Mbps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 vs Baseline: </a:t>
            </a:r>
            <a:r>
              <a:rPr b="1" sz="1125" i="0" u="none">
                <a:solidFill>
                  <a:srgbClr val="64748B"/>
                </a:solidFill>
                <a:latin typeface="Plus Jakarta Sans"/>
              </a:rPr>
              <a:t>113.07 Mbps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434655"/>
            <a:ext cx="20752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50 km/h Corridor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301305"/>
            <a:ext cx="127635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Space Grotesk"/>
              </a:rPr>
              <a:t>96.5%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675" y="3434655"/>
            <a:ext cx="226278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130 km/h Highway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8900" y="3301305"/>
            <a:ext cx="1228725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59669"/>
                </a:solidFill>
                <a:latin typeface="Space Grotesk"/>
              </a:rPr>
              <a:t>97.6%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029325"/>
            <a:ext cx="108204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486917"/>
            <a:ext cx="5112394" cy="2190750"/>
          </a:xfrm>
          <a:prstGeom prst="roundRect">
            <a:avLst>
              <a:gd name="adj" fmla="val 521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029325"/>
            <a:ext cx="108204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02994" y="2505967"/>
            <a:ext cx="5403205" cy="981075"/>
          </a:xfrm>
          <a:prstGeom prst="roundRect">
            <a:avLst>
              <a:gd name="adj" fmla="val 97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02994" y="3677542"/>
            <a:ext cx="5403205" cy="981075"/>
          </a:xfrm>
          <a:prstGeom prst="roundRect">
            <a:avLst>
              <a:gd name="adj" fmla="val 97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53700" y="2744092"/>
            <a:ext cx="676275" cy="247650"/>
          </a:xfrm>
          <a:prstGeom prst="roundRect">
            <a:avLst>
              <a:gd name="adj" fmla="val 15384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25125" y="3915667"/>
            <a:ext cx="704850" cy="247650"/>
          </a:xfrm>
          <a:prstGeom prst="roundRect">
            <a:avLst>
              <a:gd name="adj" fmla="val 15384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953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LATENCY 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2390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Interruption Latency Cut in Half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91250"/>
            <a:ext cx="4953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Evaluation Metric: Total Corridor Reconnection Interruption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7325" y="6191250"/>
            <a:ext cx="3036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Deterministic Signaling Predictability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750" y="2867917"/>
            <a:ext cx="5628493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b="1" sz="6300" i="0" u="none">
                <a:solidFill>
                  <a:srgbClr val="38BDF8"/>
                </a:solidFill>
                <a:latin typeface="Space Grotesk"/>
              </a:rPr>
              <a:t>100 </a:t>
            </a:r>
            <a:r>
              <a:rPr b="1" sz="2700" i="0" u="none">
                <a:solidFill>
                  <a:srgbClr val="94A3B8"/>
                </a:solidFill>
                <a:latin typeface="Space Grotesk"/>
              </a:rPr>
              <a:t>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038" y="3820417"/>
            <a:ext cx="590991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Plus Jakarta Sans"/>
              </a:rPr>
              <a:t>Fixed NETPILOT Interruption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750" y="4115692"/>
            <a:ext cx="56284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Plus Jakarta Sans"/>
              </a:rPr>
              <a:t>Exactly 2 handovers × 50 ms execution penalty.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219" y="3048892"/>
            <a:ext cx="581278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Reduced from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260 ms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down to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100 ms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219" y="4220467"/>
            <a:ext cx="581278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Reduced from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140 ms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down to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100 ms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9219" y="2758380"/>
            <a:ext cx="221277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50 km/h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48950" y="2782192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5803D"/>
                </a:solidFill>
                <a:latin typeface="Plus Jakarta Sans"/>
              </a:rPr>
              <a:t>-61.5%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9219" y="3929955"/>
            <a:ext cx="23002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130 km/h 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20375" y="3953767"/>
            <a:ext cx="609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5803D"/>
                </a:solidFill>
                <a:latin typeface="Plus Jakarta Sans"/>
              </a:rPr>
              <a:t>-28.5%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62650"/>
            <a:ext cx="10820400" cy="400050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396430"/>
            <a:ext cx="10820400" cy="23050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396430"/>
          <a:ext cx="10820398" cy="23050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119288"/>
                <a:gridCol w="2799308"/>
                <a:gridCol w="2593627"/>
                <a:gridCol w="2308175"/>
              </a:tblGrid>
              <a:tr h="46101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Evaluation 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Standard 3GPP A3 Baseline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NETPILOT ML Framework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Impact Advantage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Ping-Pong 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2.0 Oscillation Events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0.0 Events (Zero Thrash)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100% Elimination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Interruption Latency (50 km/h)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260 ms Disruption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100 ms Fixed Disruption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61.5% Latency Cut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Interruption Latency (130 km/h)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140 ms Disruption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100 ms Fixed Disruption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28.5% Latency Cut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Corridor Throughput Retention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113.07 Mbps Max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110.30 Mbps Sustained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97.6% Channel Parity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953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BENCHMARKING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23900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Baseline 3GPP A3 vs. NETPILOT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6076950"/>
            <a:ext cx="11315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Conclusion: Significant overhead reduction with zero sacrifice in user experience or network bandwidth.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962501"/>
            <a:ext cx="108204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72625" y="495300"/>
            <a:ext cx="1933575" cy="304800"/>
          </a:xfrm>
          <a:prstGeom prst="roundRect">
            <a:avLst>
              <a:gd name="adj" fmla="val 18750"/>
            </a:avLst>
          </a:prstGeom>
          <a:solidFill>
            <a:srgbClr val="0F2231"/>
          </a:solidFill>
          <a:ln w="9525">
            <a:solidFill>
              <a:srgbClr val="174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3940671"/>
            <a:ext cx="3479750" cy="1247775"/>
          </a:xfrm>
          <a:prstGeom prst="roundRect">
            <a:avLst>
              <a:gd name="adj" fmla="val 7633"/>
            </a:avLst>
          </a:prstGeom>
          <a:solidFill>
            <a:srgbClr val="10141D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56050" y="3940671"/>
            <a:ext cx="3479750" cy="1247775"/>
          </a:xfrm>
          <a:prstGeom prst="roundRect">
            <a:avLst>
              <a:gd name="adj" fmla="val 7633"/>
            </a:avLst>
          </a:prstGeom>
          <a:solidFill>
            <a:srgbClr val="10141D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26300" y="3940671"/>
            <a:ext cx="3479750" cy="1247775"/>
          </a:xfrm>
          <a:prstGeom prst="roundRect">
            <a:avLst>
              <a:gd name="adj" fmla="val 7633"/>
            </a:avLst>
          </a:prstGeom>
          <a:solidFill>
            <a:srgbClr val="10141D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962501"/>
            <a:ext cx="108204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1975"/>
            <a:ext cx="1905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4159746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075" y="4159746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325" y="4159746"/>
            <a:ext cx="1714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1574155"/>
            <a:ext cx="11461432" cy="963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b="1" sz="3300" i="0" u="none">
                <a:solidFill>
                  <a:srgbClr val="F8FAFC"/>
                </a:solidFill>
                <a:latin typeface="Space Grotesk"/>
              </a:rPr>
              <a:t>Autonomous Handover Intelligence for Next-Gen 5G Corridors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52266"/>
            <a:ext cx="9239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Zero ping-pongs, halved interruption latency, and full throughput parity proven across high-mobility highway corridors.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8900" y="6162526"/>
            <a:ext cx="1571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Thank You • 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561975"/>
            <a:ext cx="188714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AIORI-3 HACKATHON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4612" y="547687"/>
            <a:ext cx="371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4637" y="566737"/>
            <a:ext cx="2262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4A3B8"/>
                </a:solidFill>
                <a:latin typeface="Space Grotesk"/>
              </a:rPr>
              <a:t>SUMMARY &amp; 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4550" y="561975"/>
            <a:ext cx="2012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PS-016 | A3-PS016-TC075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4407396"/>
            <a:ext cx="40421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0 Ping-Pong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645521"/>
            <a:ext cx="3849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Complete elimination of oscillatory triggers.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075" y="4407396"/>
            <a:ext cx="40421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Up to 61.5% Less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6075" y="4645521"/>
            <a:ext cx="3849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Fixed minimal disruption at all highway velocities.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325" y="4407396"/>
            <a:ext cx="396567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97.6% Capacity Parity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325" y="4645521"/>
            <a:ext cx="3174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Zero throughput starvation across high-speed cells.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162526"/>
            <a:ext cx="3238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Event: </a:t>
            </a:r>
            <a:r>
              <a:rPr b="1" sz="900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38BDF8"/>
                </a:solidFill>
                <a:latin typeface="Plus Jakarta Sans"/>
              </a:rPr>
              <a:t>AIORI-3 Hackathon (PS-016)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3300" y="6162526"/>
            <a:ext cx="3512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Team: </a:t>
            </a:r>
            <a:r>
              <a:rPr b="1" sz="900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F8FAFC"/>
                </a:solidFill>
                <a:latin typeface="Plus Jakarta Sans"/>
              </a:rPr>
              <a:t>Mahak Chaudhary  |  Brij Bhushan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9875" y="6162526"/>
            <a:ext cx="2607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Mentor: </a:t>
            </a:r>
            <a:r>
              <a:rPr b="1" sz="900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38BDF8"/>
                </a:solidFill>
                <a:latin typeface="Plus Jakarta Sans"/>
              </a:rPr>
              <a:t>Mohd Imran Hashmi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